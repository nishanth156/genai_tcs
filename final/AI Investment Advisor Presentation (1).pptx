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75174A-ABB3-4CFC-99DC-76773C307BFD}">
  <a:tblStyle styleId="{6D75174A-ABB3-4CFC-99DC-76773C307B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55457" y="2484090"/>
            <a:ext cx="868108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Investment Advisor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817590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Personalized Financial Guidance Powered by GenAI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3009900"/>
            <a:ext cx="1143000" cy="571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285523" y="3352800"/>
            <a:ext cx="762095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Closing the Advisory Gap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466975" y="3686175"/>
            <a:ext cx="7258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Democratizing access to high-quality wealth management through intelligent automation.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6075"/>
            <a:ext cx="52387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886075"/>
            <a:ext cx="52387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Barriers in Traditional Advice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52500" y="3305175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High Entry Costs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52500" y="3581400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Traditional wealth management often requires high minimum balances, excluding 80% of potential retail investors.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62750" y="3305175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Human Bias &amp; Delay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62750" y="3581400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Human advisors are subject to cognitive biases and limited bandwidth, resulting in delayed market responses.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Solution: Intelligence at Scale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27574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Dynamic Profiling: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Real-time assessment of risk appetite and life goals.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36052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Instant Analysis: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Generating portfolio recommendations in under 5 seconds.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44529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Agentic Search: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Real-time integration with global market indices and news.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19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67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148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8412"/>
            <a:ext cx="34924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38412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538412"/>
            <a:ext cx="34924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Technical Architecture Pillars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844234" y="3690937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RAG Engine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14400" y="3967162"/>
            <a:ext cx="280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Retrieval Augmented Generation ensures data accuracy using verified financial reports.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622382" y="3690937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AI Agents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692550" y="3967162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Autonomous agents fetch live market data from APIs to inform model reasoning.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400685" y="3690937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Responsible AI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70850" y="3967162"/>
            <a:ext cx="280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Built-in compliance filters ensure all advice follows financial regulations.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9289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5813" y="2928937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Performance and Efficiency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1257300" y="3033712"/>
            <a:ext cx="2257425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6366F1"/>
                </a:solidFill>
                <a:latin typeface="Poppins"/>
                <a:ea typeface="Poppins"/>
                <a:cs typeface="Poppins"/>
                <a:sym typeface="Poppins"/>
              </a:rPr>
              <a:t>94%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257300" y="4614862"/>
            <a:ext cx="2257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ACCURACY RATE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886325" y="3033712"/>
            <a:ext cx="1914525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6366F1"/>
                </a:solidFill>
                <a:latin typeface="Poppins"/>
                <a:ea typeface="Poppins"/>
                <a:cs typeface="Poppins"/>
                <a:sym typeface="Poppins"/>
              </a:rPr>
              <a:t>10x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886325" y="4614862"/>
            <a:ext cx="19145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FASTER DELIVERY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172450" y="3033712"/>
            <a:ext cx="2762250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6366F1"/>
                </a:solidFill>
                <a:latin typeface="Poppins"/>
                <a:ea typeface="Poppins"/>
                <a:cs typeface="Poppins"/>
                <a:sym typeface="Poppins"/>
              </a:rPr>
              <a:t>-70%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172450" y="4614862"/>
            <a:ext cx="2762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OPERATIONAL COST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Competitive Landscape Analysis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19"/>
          <p:cNvGraphicFramePr/>
          <p:nvPr/>
        </p:nvGraphicFramePr>
        <p:xfrm>
          <a:off x="2276475" y="25669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{6D75174A-ABB3-4CFC-99DC-76773C307BFD}</a:tableStyleId>
              </a:tblPr>
              <a:tblGrid>
                <a:gridCol w="2209800"/>
                <a:gridCol w="1971675"/>
                <a:gridCol w="1619250"/>
                <a:gridCol w="1838325"/>
              </a:tblGrid>
              <a:tr h="69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Traditional Advisor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Robo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Advisor (Ours)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9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24/7 Availability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Contextual Reasoning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Real-time Rebalancing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19"/>
          <p:cNvSpPr/>
          <p:nvPr/>
        </p:nvSpPr>
        <p:spPr>
          <a:xfrm>
            <a:off x="2276475" y="39338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486275" y="3933825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457950" y="3933825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8077200" y="3933825"/>
            <a:ext cx="1838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2276475" y="4629150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486275" y="4629150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6457950" y="462915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8077200" y="4629150"/>
            <a:ext cx="1838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2276475" y="53244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4486275" y="5324475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457950" y="5324475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8077200" y="5324475"/>
            <a:ext cx="1838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6775" y="4205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6775" y="490061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7700" y="49006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7700" y="35099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7700" y="4205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8450" y="490061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8450" y="35099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8450" y="420528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6775" y="350996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6775" y="350996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8450" y="35099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7700" y="35099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6775" y="4205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8450" y="420528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7700" y="4205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6775" y="490061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8450" y="490061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7700" y="4900612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9250"/>
            <a:ext cx="110490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Portfolio Performance Simulation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686050" y="4824412"/>
            <a:ext cx="681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Simulated back-testing over a 5-year period showing superior risk-adjusted returns.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11049000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762000" y="4191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Rising Consumer Trust in AI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4191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138487" y="5991225"/>
            <a:ext cx="5915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Consumer adoption of AI financial tools is projected to grow 3x by 2027.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952500" y="762000"/>
            <a:ext cx="46005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"What-If" Analysis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762000" y="762000"/>
            <a:ext cx="57150" cy="12382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762000" y="2428875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core differentiator allowing users to stress-test their portfolios against historical and hypothetical market scenarios instantly.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762000" y="34861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Adjust variables like inflation, interest rates, and sector crashes to see immediate impact projections.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Phased Implementation Roadmap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1727745" y="3467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507968" y="38862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Phase 1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4162425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Prototype &amp; Core RAG Integration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4563665" y="3467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3343888" y="38862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Phase 2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3407419" y="4162425"/>
            <a:ext cx="25412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Agentic Market Data Pipeline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7399585" y="3467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6179808" y="38862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Phase 3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243339" y="4162425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Beta Launch &amp; Compliance Audit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10235505" y="3467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9015728" y="38862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Phase 4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9079259" y="4162425"/>
            <a:ext cx="25412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Full Public Deployment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4010739" y="2165002"/>
            <a:ext cx="417052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4110037" y="3498502"/>
            <a:ext cx="39719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Questions and Discussion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4110037" y="4245173"/>
            <a:ext cx="3971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www.ai-advisor-demo.com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1485900" y="2388096"/>
            <a:ext cx="92202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1485900" y="3172866"/>
            <a:ext cx="92202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1485900" y="3957637"/>
            <a:ext cx="92202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1485900" y="3163341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1485900" y="3163341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1485900" y="3948112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1485900" y="3948112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1485900" y="4732883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1485900" y="4732883"/>
            <a:ext cx="9220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4" name="Google Shape;2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900" y="25375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2581275" y="2530971"/>
            <a:ext cx="8124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https://cdn.dribbble.com/userupload/46985469/file/0b8fe927c3b868e58f828bad9c2e32bf.png?format=webp&amp;resize=400x300&amp;vertical=center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2581275" y="2776686"/>
            <a:ext cx="8124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dribbble.com</a:t>
            </a:r>
            <a:endParaRPr/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33222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2581275" y="3315741"/>
            <a:ext cx="8124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https://miro.medium.com/v2/resize:fit:1400/0*8o2T4T-H4gKFQ9yT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2581275" y="3561457"/>
            <a:ext cx="8124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medium.muz.li</a:t>
            </a:r>
            <a:endParaRPr/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5900" y="41070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2581275" y="4100512"/>
            <a:ext cx="8124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https://png.pngtree.com/thumb_back/fw800/background/20251231/pngtree-futuristic-network-connections-in-dark-space-image_20964452.webp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2581275" y="4346227"/>
            <a:ext cx="8124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85900" y="48918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2581275" y="4885283"/>
            <a:ext cx="8124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https://digitalworkplacegroup.com/wp-content/uploads/2025/06/digital-transformation-technology.jpg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2581275" y="5130998"/>
            <a:ext cx="8124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digitalworkplacegroup.com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